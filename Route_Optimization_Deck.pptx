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Komposisi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57C3"/>
              </a:solidFill>
              <a:effectLst/>
            </c:spPr>
          </c:dPt>
          <c:dPt>
            <c:idx val="1"/>
            <c:bubble3D val="0"/>
            <c:spPr>
              <a:solidFill>
                <a:srgbClr val="307FE2"/>
              </a:solidFill>
              <a:effectLst/>
            </c:spPr>
          </c:dPt>
          <c:dPt>
            <c:idx val="2"/>
            <c:bubble3D val="0"/>
            <c:spPr>
              <a:solidFill>
                <a:srgbClr val="71C5E8"/>
              </a:solidFill>
              <a:effectLst/>
            </c:spPr>
          </c:dPt>
          <c:dPt>
            <c:idx val="3"/>
            <c:bubble3D val="0"/>
            <c:spPr>
              <a:solidFill>
                <a:srgbClr val="CCAD9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Penagihan</c:v>
                </c:pt>
                <c:pt idx="1">
                  <c:v>Pemasaran</c:v>
                </c:pt>
                <c:pt idx="2">
                  <c:v>Pembinaan</c:v>
                </c:pt>
                <c:pt idx="3">
                  <c:v>OTS / lainnya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205222</c:v>
                </c:pt>
                <c:pt idx="1">
                  <c:v>125590</c:v>
                </c:pt>
                <c:pt idx="2">
                  <c:v>9573</c:v>
                </c:pt>
                <c:pt idx="3">
                  <c:v>1027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mantri-hari</c:v>
                </c:pt>
              </c:strCache>
            </c:strRef>
          </c:tx>
          <c:spPr>
            <a:solidFill>
              <a:srgbClr val="0857C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2447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0-5 km</c:v>
                  </c:pt>
                  <c:pt idx="1">
                    <c:v>5-10 km</c:v>
                  </c:pt>
                  <c:pt idx="2">
                    <c:v>10-15 km</c:v>
                  </c:pt>
                  <c:pt idx="3">
                    <c:v>15-20 km</c:v>
                  </c:pt>
                  <c:pt idx="4">
                    <c:v>20-30 km</c:v>
                  </c:pt>
                  <c:pt idx="5">
                    <c:v>30+ km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5437</c:v>
                </c:pt>
                <c:pt idx="1">
                  <c:v>3324</c:v>
                </c:pt>
                <c:pt idx="2">
                  <c:v>2839</c:v>
                </c:pt>
                <c:pt idx="3">
                  <c:v>2158</c:v>
                </c:pt>
                <c:pt idx="4">
                  <c:v>2890</c:v>
                </c:pt>
                <c:pt idx="5">
                  <c:v>5494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B2447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5A6B82"/>
                    </a:solidFill>
                    <a:latin typeface="Inter"/>
                  </a:defRPr>
                </a:pPr>
                <a:r>
                  <a:rPr sz="1400" b="0" i="0" u="none" strike="noStrike">
                    <a:solidFill>
                      <a:srgbClr val="5A6B82"/>
                    </a:solidFill>
                    <a:latin typeface="Inter"/>
                  </a:rPr>
                  <a:t>jarak rute per hari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2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Mantri-hari</c:v>
                </c:pt>
              </c:strCache>
            </c:strRef>
          </c:tx>
          <c:spPr>
            <a:solidFill>
              <a:srgbClr val="0857C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1-4</c:v>
                  </c:pt>
                  <c:pt idx="1">
                    <c:v>5-7</c:v>
                  </c:pt>
                  <c:pt idx="2">
                    <c:v>8-10</c:v>
                  </c:pt>
                  <c:pt idx="3">
                    <c:v>11-13</c:v>
                  </c:pt>
                  <c:pt idx="4">
                    <c:v>14-16</c:v>
                  </c:pt>
                  <c:pt idx="5">
                    <c:v>17+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1664</c:v>
                </c:pt>
                <c:pt idx="1">
                  <c:v>1372</c:v>
                </c:pt>
                <c:pt idx="2">
                  <c:v>1244</c:v>
                </c:pt>
                <c:pt idx="3">
                  <c:v>1566</c:v>
                </c:pt>
                <c:pt idx="4">
                  <c:v>7876</c:v>
                </c:pt>
                <c:pt idx="5">
                  <c:v>8420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5A6B82"/>
                    </a:solidFill>
                    <a:latin typeface="Inter"/>
                  </a:defRPr>
                </a:pPr>
                <a:r>
                  <a:rPr sz="1400" b="0" i="0" u="none" strike="noStrike">
                    <a:solidFill>
                      <a:srgbClr val="5A6B82"/>
                    </a:solidFill>
                    <a:latin typeface="Inter"/>
                  </a:rPr>
                  <a:t>kunjungan per hari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2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Kunjungan</c:v>
                </c:pt>
              </c:strCache>
            </c:strRef>
          </c:tx>
          <c:spPr>
            <a:solidFill>
              <a:srgbClr val="307FE2"/>
            </a:solidFill>
            <a:ln w="44450" cap="flat">
              <a:solidFill>
                <a:srgbClr val="307F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07FE2"/>
              </a:solidFill>
              <a:ln w="9525" cap="flat">
                <a:solidFill>
                  <a:srgbClr val="307F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6:00</c:v>
                  </c:pt>
                  <c:pt idx="1">
                    <c:v>7:00</c:v>
                  </c:pt>
                  <c:pt idx="2">
                    <c:v>8:00</c:v>
                  </c:pt>
                  <c:pt idx="3">
                    <c:v>9:00</c:v>
                  </c:pt>
                  <c:pt idx="4">
                    <c:v>10:00</c:v>
                  </c:pt>
                  <c:pt idx="5">
                    <c:v>11:00</c:v>
                  </c:pt>
                  <c:pt idx="6">
                    <c:v>12:00</c:v>
                  </c:pt>
                  <c:pt idx="7">
                    <c:v>13:00</c:v>
                  </c:pt>
                  <c:pt idx="8">
                    <c:v>14:00</c:v>
                  </c:pt>
                  <c:pt idx="9">
                    <c:v>15:00</c:v>
                  </c:pt>
                  <c:pt idx="10">
                    <c:v>16:00</c:v>
                  </c:pt>
                  <c:pt idx="11">
                    <c:v>17:00</c:v>
                  </c:pt>
                  <c:pt idx="12">
                    <c:v>18:00</c:v>
                  </c:pt>
                  <c:pt idx="13">
                    <c:v>19:00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350</c:v>
                </c:pt>
                <c:pt idx="1">
                  <c:v>2224</c:v>
                </c:pt>
                <c:pt idx="2">
                  <c:v>11860</c:v>
                </c:pt>
                <c:pt idx="3">
                  <c:v>23836</c:v>
                </c:pt>
                <c:pt idx="4">
                  <c:v>36387</c:v>
                </c:pt>
                <c:pt idx="5">
                  <c:v>29725</c:v>
                </c:pt>
                <c:pt idx="6">
                  <c:v>24044</c:v>
                </c:pt>
                <c:pt idx="7">
                  <c:v>26612</c:v>
                </c:pt>
                <c:pt idx="8">
                  <c:v>28329</c:v>
                </c:pt>
                <c:pt idx="9">
                  <c:v>32681</c:v>
                </c:pt>
                <c:pt idx="10">
                  <c:v>34542</c:v>
                </c:pt>
                <c:pt idx="11">
                  <c:v>30998</c:v>
                </c:pt>
                <c:pt idx="12">
                  <c:v>23814</c:v>
                </c:pt>
                <c:pt idx="13">
                  <c:v>12601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5A6B82"/>
                    </a:solidFill>
                    <a:latin typeface="Inter"/>
                  </a:defRPr>
                </a:pPr>
                <a:r>
                  <a:rPr sz="1400" b="0" i="0" u="none" strike="noStrike">
                    <a:solidFill>
                      <a:srgbClr val="5A6B82"/>
                    </a:solidFill>
                    <a:latin typeface="Inter"/>
                  </a:rPr>
                  <a:t>jam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2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Rute aktual/hari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Makassar</c:v>
                  </c:pt>
                  <c:pt idx="1">
                    <c:v>Denpasar</c:v>
                  </c:pt>
                  <c:pt idx="2">
                    <c:v>KANWIL MALANG</c:v>
                  </c:pt>
                  <c:pt idx="3">
                    <c:v>Bandung</c:v>
                  </c:pt>
                  <c:pt idx="4">
                    <c:v>Yogyakarta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37.39</c:v>
                </c:pt>
                <c:pt idx="1">
                  <c:v>27.7</c:v>
                </c:pt>
                <c:pt idx="2">
                  <c:v>25.65</c:v>
                </c:pt>
                <c:pt idx="3">
                  <c:v>24.39</c:v>
                </c:pt>
                <c:pt idx="4">
                  <c:v>15.69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Rute optimal/hari</c:v>
                </c:pt>
              </c:strCache>
            </c:strRef>
          </c:tx>
          <c:spPr>
            <a:solidFill>
              <a:srgbClr val="1F8A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Makassar</c:v>
                  </c:pt>
                  <c:pt idx="1">
                    <c:v>Denpasar</c:v>
                  </c:pt>
                  <c:pt idx="2">
                    <c:v>KANWIL MALANG</c:v>
                  </c:pt>
                  <c:pt idx="3">
                    <c:v>Bandung</c:v>
                  </c:pt>
                  <c:pt idx="4">
                    <c:v>Yogyakarta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14.52</c:v>
                </c:pt>
                <c:pt idx="1">
                  <c:v>12.27</c:v>
                </c:pt>
                <c:pt idx="2">
                  <c:v>11.89</c:v>
                </c:pt>
                <c:pt idx="3">
                  <c:v>11.51</c:v>
                </c:pt>
                <c:pt idx="4">
                  <c:v>7.97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2F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A6B82"/>
                    </a:solidFill>
                    <a:latin typeface="Inter"/>
                  </a:defRPr>
                </a:pPr>
                <a:r>
                  <a:rPr b="0" i="0" u="none" strike="noStrike">
                    <a:solidFill>
                      <a:srgbClr val="5A6B82"/>
                    </a:solidFill>
                    <a:latin typeface="Inter"/>
                  </a:rPr>
                  <a:t>km / mantri-hari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7739360" cy="9738360"/>
          </a:xfrm>
          <a:prstGeom prst="roundRect">
            <a:avLst>
              <a:gd name="adj" fmla="val 3286"/>
            </a:avLst>
          </a:prstGeom>
          <a:ln w="38100">
            <a:solidFill>
              <a:srgbClr val="71C5E8"/>
            </a:solidFill>
            <a:prstDash val="solid"/>
          </a:ln>
        </p:spPr>
      </p:sp>
      <p:pic>
        <p:nvPicPr>
          <p:cNvPr id="3" name="Image 0" descr="route-opt/docs/dananta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828800" cy="1028700"/>
          </a:xfrm>
          <a:prstGeom prst="rect">
            <a:avLst/>
          </a:prstGeom>
        </p:spPr>
      </p:pic>
      <p:pic>
        <p:nvPicPr>
          <p:cNvPr id="4" name="Image 1" descr="route-opt/docs/bri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411480"/>
            <a:ext cx="2103120" cy="1183932"/>
          </a:xfrm>
          <a:prstGeom prst="rect">
            <a:avLst/>
          </a:prstGeom>
        </p:spPr>
      </p:pic>
      <p:pic>
        <p:nvPicPr>
          <p:cNvPr id="5" name="Image 2" descr="route-opt/docs/phone_h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0" y="1371600"/>
            <a:ext cx="5577840" cy="1001341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41732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07F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EVALUASI &amp; OPTIMALISASI RUTE MANTRI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1371600" y="36576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Route
</a:t>
            </a:r>
            <a:pPr indent="0" marL="0">
              <a:lnSpc>
                <a:spcPct val="98000"/>
              </a:lnSpc>
              <a:buNone/>
            </a:pPr>
            <a:r>
              <a:rPr lang="en-US" sz="88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Optimization</a:t>
            </a:r>
            <a:endParaRPr lang="en-US" sz="8800" dirty="0"/>
          </a:p>
        </p:txBody>
      </p:sp>
      <p:sp>
        <p:nvSpPr>
          <p:cNvPr id="8" name="Text 3"/>
          <p:cNvSpPr/>
          <p:nvPr/>
        </p:nvSpPr>
        <p:spPr>
          <a:xfrm>
            <a:off x="1417320" y="65379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0857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Evaluasi rute pemasaran, pembinaan &amp; penagihan mantri dan model optimalisasi berbasis data GPS kunjungan harian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1417320" y="7680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857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 2026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1417320" y="8183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857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 Risk Management Group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ute-opt/docs/dananta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828800" cy="1028700"/>
          </a:xfrm>
          <a:prstGeom prst="rect">
            <a:avLst/>
          </a:prstGeom>
        </p:spPr>
      </p:pic>
      <p:pic>
        <p:nvPicPr>
          <p:cNvPr id="3" name="Image 1" descr="route-opt/docs/bri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411480"/>
            <a:ext cx="2103120" cy="11839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0120" y="2331720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07F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RINGKASAN DATA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914400" y="2697480"/>
            <a:ext cx="1645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Summary data: cakupan &amp; komposisi kunjungan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960120" y="3611880"/>
            <a:ext cx="1645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Basis seluruh analisis — data GPS kunjungan mantri (BRISPOT) periode Januari–Juni 2026, setelah pembersihan koordinat error &amp; baris tidak lengkap.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914400" y="457200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4E0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4400" y="4572000"/>
            <a:ext cx="128016" cy="1371600"/>
          </a:xfrm>
          <a:prstGeom prst="roundRect">
            <a:avLst>
              <a:gd name="adj" fmla="val 28571"/>
            </a:avLst>
          </a:prstGeom>
          <a:solidFill>
            <a:srgbClr val="0857C3"/>
          </a:solidFill>
          <a:ln/>
        </p:spPr>
      </p:sp>
      <p:sp>
        <p:nvSpPr>
          <p:cNvPr id="10" name="Text 6"/>
          <p:cNvSpPr/>
          <p:nvPr/>
        </p:nvSpPr>
        <p:spPr>
          <a:xfrm>
            <a:off x="1280160" y="473659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341.412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1298448" y="5440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kunjungan dianalisis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537960" y="457200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4E0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537960" y="4572000"/>
            <a:ext cx="128016" cy="1371600"/>
          </a:xfrm>
          <a:prstGeom prst="roundRect">
            <a:avLst>
              <a:gd name="adj" fmla="val 28571"/>
            </a:avLst>
          </a:prstGeom>
          <a:solidFill>
            <a:srgbClr val="307FE2"/>
          </a:solidFill>
          <a:ln/>
        </p:spPr>
      </p:sp>
      <p:sp>
        <p:nvSpPr>
          <p:cNvPr id="14" name="Text 10"/>
          <p:cNvSpPr/>
          <p:nvPr/>
        </p:nvSpPr>
        <p:spPr>
          <a:xfrm>
            <a:off x="6903720" y="473659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07FE2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296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6922008" y="5440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Mantri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914400" y="6291072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4E0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14400" y="6291072"/>
            <a:ext cx="128016" cy="1371600"/>
          </a:xfrm>
          <a:prstGeom prst="roundRect">
            <a:avLst>
              <a:gd name="adj" fmla="val 28571"/>
            </a:avLst>
          </a:prstGeom>
          <a:solidFill>
            <a:srgbClr val="307FE2"/>
          </a:solidFill>
          <a:ln/>
        </p:spPr>
      </p:sp>
      <p:sp>
        <p:nvSpPr>
          <p:cNvPr id="18" name="Text 14"/>
          <p:cNvSpPr/>
          <p:nvPr/>
        </p:nvSpPr>
        <p:spPr>
          <a:xfrm>
            <a:off x="1280160" y="6455664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07FE2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49</a:t>
            </a:r>
            <a:endParaRPr lang="en-US" sz="3400" dirty="0"/>
          </a:p>
        </p:txBody>
      </p:sp>
      <p:sp>
        <p:nvSpPr>
          <p:cNvPr id="19" name="Text 15"/>
          <p:cNvSpPr/>
          <p:nvPr/>
        </p:nvSpPr>
        <p:spPr>
          <a:xfrm>
            <a:off x="1298448" y="715975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kerja (BRI Unit)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537960" y="6291072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4E0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37960" y="6291072"/>
            <a:ext cx="128016" cy="1371600"/>
          </a:xfrm>
          <a:prstGeom prst="roundRect">
            <a:avLst>
              <a:gd name="adj" fmla="val 28571"/>
            </a:avLst>
          </a:prstGeom>
          <a:solidFill>
            <a:srgbClr val="307FE2"/>
          </a:solidFill>
          <a:ln/>
        </p:spPr>
      </p:sp>
      <p:sp>
        <p:nvSpPr>
          <p:cNvPr id="22" name="Text 18"/>
          <p:cNvSpPr/>
          <p:nvPr/>
        </p:nvSpPr>
        <p:spPr>
          <a:xfrm>
            <a:off x="6903720" y="6455664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07FE2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5</a:t>
            </a:r>
            <a:endParaRPr lang="en-US" sz="3400" dirty="0"/>
          </a:p>
        </p:txBody>
      </p:sp>
      <p:sp>
        <p:nvSpPr>
          <p:cNvPr id="23" name="Text 19"/>
          <p:cNvSpPr/>
          <p:nvPr/>
        </p:nvSpPr>
        <p:spPr>
          <a:xfrm>
            <a:off x="6922008" y="715975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Kantor Wilayah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914400" y="8010144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4E0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14400" y="8010144"/>
            <a:ext cx="128016" cy="1371600"/>
          </a:xfrm>
          <a:prstGeom prst="roundRect">
            <a:avLst>
              <a:gd name="adj" fmla="val 28571"/>
            </a:avLst>
          </a:prstGeom>
          <a:solidFill>
            <a:srgbClr val="1F8A78"/>
          </a:solidFill>
          <a:ln/>
        </p:spPr>
      </p:sp>
      <p:sp>
        <p:nvSpPr>
          <p:cNvPr id="26" name="Text 22"/>
          <p:cNvSpPr/>
          <p:nvPr/>
        </p:nvSpPr>
        <p:spPr>
          <a:xfrm>
            <a:off x="1280160" y="8174736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8A78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22.142</a:t>
            </a:r>
            <a:endParaRPr lang="en-US" sz="3400" dirty="0"/>
          </a:p>
        </p:txBody>
      </p:sp>
      <p:sp>
        <p:nvSpPr>
          <p:cNvPr id="27" name="Text 23"/>
          <p:cNvSpPr/>
          <p:nvPr/>
        </p:nvSpPr>
        <p:spPr>
          <a:xfrm>
            <a:off x="1298448" y="887882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Mantri-hari (observasi rute)</a:t>
            </a:r>
            <a:endParaRPr lang="en-US" sz="1450" dirty="0"/>
          </a:p>
        </p:txBody>
      </p:sp>
      <p:sp>
        <p:nvSpPr>
          <p:cNvPr id="28" name="Shape 24"/>
          <p:cNvSpPr/>
          <p:nvPr/>
        </p:nvSpPr>
        <p:spPr>
          <a:xfrm>
            <a:off x="6537960" y="8010144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4E0F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537960" y="8010144"/>
            <a:ext cx="128016" cy="1371600"/>
          </a:xfrm>
          <a:prstGeom prst="roundRect">
            <a:avLst>
              <a:gd name="adj" fmla="val 28571"/>
            </a:avLst>
          </a:prstGeom>
          <a:solidFill>
            <a:srgbClr val="E8A13A"/>
          </a:solidFill>
          <a:ln/>
        </p:spPr>
      </p:sp>
      <p:sp>
        <p:nvSpPr>
          <p:cNvPr id="30" name="Text 26"/>
          <p:cNvSpPr/>
          <p:nvPr/>
        </p:nvSpPr>
        <p:spPr>
          <a:xfrm>
            <a:off x="6903720" y="8174736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13A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6 bln</a:t>
            </a:r>
            <a:endParaRPr lang="en-US" sz="3400" dirty="0"/>
          </a:p>
        </p:txBody>
      </p:sp>
      <p:sp>
        <p:nvSpPr>
          <p:cNvPr id="31" name="Text 27"/>
          <p:cNvSpPr/>
          <p:nvPr/>
        </p:nvSpPr>
        <p:spPr>
          <a:xfrm>
            <a:off x="6922008" y="887882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Periode (Jan–Jun 2026)</a:t>
            </a:r>
            <a:endParaRPr lang="en-US" sz="1450" dirty="0"/>
          </a:p>
        </p:txBody>
      </p:sp>
      <p:sp>
        <p:nvSpPr>
          <p:cNvPr id="32" name="Shape 28"/>
          <p:cNvSpPr/>
          <p:nvPr/>
        </p:nvSpPr>
        <p:spPr>
          <a:xfrm>
            <a:off x="11887200" y="4572000"/>
            <a:ext cx="5486400" cy="4864608"/>
          </a:xfrm>
          <a:prstGeom prst="roundRect">
            <a:avLst>
              <a:gd name="adj" fmla="val 2256"/>
            </a:avLst>
          </a:prstGeom>
          <a:solidFill>
            <a:srgbClr val="EAF1FB"/>
          </a:solidFill>
          <a:ln w="12700">
            <a:solidFill>
              <a:srgbClr val="D4E0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2207240" y="48280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Komposisi aktivitas kunjungan</a:t>
            </a:r>
            <a:endParaRPr lang="en-US" sz="17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11932920" y="5212080"/>
          <a:ext cx="53949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5" name="Shape 30"/>
          <p:cNvSpPr/>
          <p:nvPr/>
        </p:nvSpPr>
        <p:spPr>
          <a:xfrm>
            <a:off x="12207240" y="7991856"/>
            <a:ext cx="182880" cy="182880"/>
          </a:xfrm>
          <a:prstGeom prst="ellipse">
            <a:avLst/>
          </a:prstGeom>
          <a:solidFill>
            <a:srgbClr val="0857C3"/>
          </a:solidFill>
          <a:ln/>
        </p:spPr>
      </p:sp>
      <p:sp>
        <p:nvSpPr>
          <p:cNvPr id="36" name="Text 31"/>
          <p:cNvSpPr/>
          <p:nvPr/>
        </p:nvSpPr>
        <p:spPr>
          <a:xfrm>
            <a:off x="12481560" y="79187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Penagihan</a:t>
            </a:r>
            <a:endParaRPr lang="en-US" sz="1350" dirty="0"/>
          </a:p>
        </p:txBody>
      </p:sp>
      <p:sp>
        <p:nvSpPr>
          <p:cNvPr id="37" name="Text 32"/>
          <p:cNvSpPr/>
          <p:nvPr/>
        </p:nvSpPr>
        <p:spPr>
          <a:xfrm>
            <a:off x="15270480" y="79187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60%</a:t>
            </a:r>
            <a:endParaRPr lang="en-US" sz="1350" dirty="0"/>
          </a:p>
        </p:txBody>
      </p:sp>
      <p:sp>
        <p:nvSpPr>
          <p:cNvPr id="38" name="Shape 33"/>
          <p:cNvSpPr/>
          <p:nvPr/>
        </p:nvSpPr>
        <p:spPr>
          <a:xfrm>
            <a:off x="12207240" y="8375904"/>
            <a:ext cx="182880" cy="182880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39" name="Text 34"/>
          <p:cNvSpPr/>
          <p:nvPr/>
        </p:nvSpPr>
        <p:spPr>
          <a:xfrm>
            <a:off x="12481560" y="83027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Pemasaran</a:t>
            </a:r>
            <a:endParaRPr lang="en-US" sz="1350" dirty="0"/>
          </a:p>
        </p:txBody>
      </p:sp>
      <p:sp>
        <p:nvSpPr>
          <p:cNvPr id="40" name="Text 35"/>
          <p:cNvSpPr/>
          <p:nvPr/>
        </p:nvSpPr>
        <p:spPr>
          <a:xfrm>
            <a:off x="15270480" y="8302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07FE2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37%</a:t>
            </a:r>
            <a:endParaRPr lang="en-US" sz="1350" dirty="0"/>
          </a:p>
        </p:txBody>
      </p:sp>
      <p:sp>
        <p:nvSpPr>
          <p:cNvPr id="41" name="Shape 36"/>
          <p:cNvSpPr/>
          <p:nvPr/>
        </p:nvSpPr>
        <p:spPr>
          <a:xfrm>
            <a:off x="12207240" y="8759952"/>
            <a:ext cx="182880" cy="182880"/>
          </a:xfrm>
          <a:prstGeom prst="ellipse">
            <a:avLst/>
          </a:prstGeom>
          <a:solidFill>
            <a:srgbClr val="71C5E8"/>
          </a:solidFill>
          <a:ln/>
        </p:spPr>
      </p:sp>
      <p:sp>
        <p:nvSpPr>
          <p:cNvPr id="42" name="Text 37"/>
          <p:cNvSpPr/>
          <p:nvPr/>
        </p:nvSpPr>
        <p:spPr>
          <a:xfrm>
            <a:off x="12481560" y="8686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Pembinaan</a:t>
            </a:r>
            <a:endParaRPr lang="en-US" sz="1350" dirty="0"/>
          </a:p>
        </p:txBody>
      </p:sp>
      <p:sp>
        <p:nvSpPr>
          <p:cNvPr id="43" name="Text 38"/>
          <p:cNvSpPr/>
          <p:nvPr/>
        </p:nvSpPr>
        <p:spPr>
          <a:xfrm>
            <a:off x="15270480" y="8686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1C5E8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3%</a:t>
            </a:r>
            <a:endParaRPr lang="en-US" sz="1350" dirty="0"/>
          </a:p>
        </p:txBody>
      </p:sp>
      <p:sp>
        <p:nvSpPr>
          <p:cNvPr id="44" name="Shape 39"/>
          <p:cNvSpPr/>
          <p:nvPr/>
        </p:nvSpPr>
        <p:spPr>
          <a:xfrm>
            <a:off x="12207240" y="9144000"/>
            <a:ext cx="182880" cy="182880"/>
          </a:xfrm>
          <a:prstGeom prst="ellipse">
            <a:avLst/>
          </a:prstGeom>
          <a:solidFill>
            <a:srgbClr val="CCAD95"/>
          </a:solidFill>
          <a:ln/>
        </p:spPr>
      </p:sp>
      <p:sp>
        <p:nvSpPr>
          <p:cNvPr id="45" name="Text 40"/>
          <p:cNvSpPr/>
          <p:nvPr/>
        </p:nvSpPr>
        <p:spPr>
          <a:xfrm>
            <a:off x="12481560" y="9070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OTS / lainnya</a:t>
            </a:r>
            <a:endParaRPr lang="en-US" sz="1350" dirty="0"/>
          </a:p>
        </p:txBody>
      </p:sp>
      <p:sp>
        <p:nvSpPr>
          <p:cNvPr id="46" name="Text 41"/>
          <p:cNvSpPr/>
          <p:nvPr/>
        </p:nvSpPr>
        <p:spPr>
          <a:xfrm>
            <a:off x="15270480" y="9070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CCAD95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0%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ute-opt/docs/dananta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828800" cy="1028700"/>
          </a:xfrm>
          <a:prstGeom prst="rect">
            <a:avLst/>
          </a:prstGeom>
        </p:spPr>
      </p:pic>
      <p:pic>
        <p:nvPicPr>
          <p:cNvPr id="3" name="Image 1" descr="route-opt/docs/bri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411480"/>
            <a:ext cx="2103120" cy="11839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0120" y="2331720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07F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EVALUASI · SEKILAS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914400" y="2697480"/>
            <a:ext cx="1645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Empat temuan utama dari rute saat ini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914400" y="4572000"/>
            <a:ext cx="39776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5875">
            <a:solidFill>
              <a:srgbClr val="D4E0F0"/>
            </a:solidFill>
            <a:prstDash val="solid"/>
          </a:ln>
          <a:effectLst>
            <a:outerShdw sx="100000" sy="100000" kx="0" ky="0" algn="bl" rotWithShape="0" blurRad="127000" dist="50800" dir="5400000">
              <a:srgbClr val="0857C3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1280160" y="4892040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5"/>
          <p:cNvSpPr/>
          <p:nvPr/>
        </p:nvSpPr>
        <p:spPr>
          <a:xfrm>
            <a:off x="1261872" y="51663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25.9 km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1280160" y="608076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RATA-RATA RUTE / MANTRI / HARI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80160" y="667512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median hanya 14 km — distribusi sangat timpang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303520" y="4572000"/>
            <a:ext cx="39776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5875">
            <a:solidFill>
              <a:srgbClr val="D4E0F0"/>
            </a:solidFill>
            <a:prstDash val="solid"/>
          </a:ln>
          <a:effectLst>
            <a:outerShdw sx="100000" sy="100000" kx="0" ky="0" algn="bl" rotWithShape="0" blurRad="127000" dist="50800" dir="5400000">
              <a:srgbClr val="0857C3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69280" y="4892040"/>
            <a:ext cx="182880" cy="182880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14" name="Text 10"/>
          <p:cNvSpPr/>
          <p:nvPr/>
        </p:nvSpPr>
        <p:spPr>
          <a:xfrm>
            <a:off x="5650992" y="51663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07FE2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37.8%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5669280" y="608076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HARI DENGAN RUTE &gt; 20 KM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669280" y="667512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sebagian kecil hari menyerap mayoritas jarak tempuh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9692640" y="4572000"/>
            <a:ext cx="39776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5875">
            <a:solidFill>
              <a:srgbClr val="D4E0F0"/>
            </a:solidFill>
            <a:prstDash val="solid"/>
          </a:ln>
          <a:effectLst>
            <a:outerShdw sx="100000" sy="100000" kx="0" ky="0" algn="bl" rotWithShape="0" blurRad="127000" dist="50800" dir="5400000">
              <a:srgbClr val="0857C3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0058400" y="4892040"/>
            <a:ext cx="182880" cy="182880"/>
          </a:xfrm>
          <a:prstGeom prst="ellipse">
            <a:avLst/>
          </a:prstGeom>
          <a:solidFill>
            <a:srgbClr val="0857C3"/>
          </a:solidFill>
          <a:ln/>
        </p:spPr>
      </p:sp>
      <p:sp>
        <p:nvSpPr>
          <p:cNvPr id="19" name="Text 15"/>
          <p:cNvSpPr/>
          <p:nvPr/>
        </p:nvSpPr>
        <p:spPr>
          <a:xfrm>
            <a:off x="10040112" y="51663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31.7%</a:t>
            </a:r>
            <a:endParaRPr lang="en-US" sz="4000" dirty="0"/>
          </a:p>
        </p:txBody>
      </p:sp>
      <p:sp>
        <p:nvSpPr>
          <p:cNvPr id="20" name="Text 16"/>
          <p:cNvSpPr/>
          <p:nvPr/>
        </p:nvSpPr>
        <p:spPr>
          <a:xfrm>
            <a:off x="10058400" y="608076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PORSI 1 PERJALANAN TERPANJANG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0058400" y="667512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rata-rata sepertiga rute habis di satu lompatan jauh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14081760" y="4572000"/>
            <a:ext cx="39776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5875">
            <a:solidFill>
              <a:srgbClr val="D4E0F0"/>
            </a:solidFill>
            <a:prstDash val="solid"/>
          </a:ln>
          <a:effectLst>
            <a:outerShdw sx="100000" sy="100000" kx="0" ky="0" algn="bl" rotWithShape="0" blurRad="127000" dist="50800" dir="5400000">
              <a:srgbClr val="0857C3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14447520" y="4892040"/>
            <a:ext cx="182880" cy="182880"/>
          </a:xfrm>
          <a:prstGeom prst="ellipse">
            <a:avLst/>
          </a:prstGeom>
          <a:solidFill>
            <a:srgbClr val="1F8A78"/>
          </a:solidFill>
          <a:ln/>
        </p:spPr>
      </p:sp>
      <p:sp>
        <p:nvSpPr>
          <p:cNvPr id="24" name="Text 20"/>
          <p:cNvSpPr/>
          <p:nvPr/>
        </p:nvSpPr>
        <p:spPr>
          <a:xfrm>
            <a:off x="14429232" y="51663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8A78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15</a:t>
            </a:r>
            <a:endParaRPr lang="en-US" sz="4000" dirty="0"/>
          </a:p>
        </p:txBody>
      </p:sp>
      <p:sp>
        <p:nvSpPr>
          <p:cNvPr id="25" name="Text 21"/>
          <p:cNvSpPr/>
          <p:nvPr/>
        </p:nvSpPr>
        <p:spPr>
          <a:xfrm>
            <a:off x="14447520" y="608076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RATA-RATA KUNJUNGAN / HARI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4447520" y="667512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beban kunjungan tinggi memperbesar ruang optimalisasi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914400" y="7909560"/>
            <a:ext cx="16459200" cy="1554480"/>
          </a:xfrm>
          <a:prstGeom prst="roundRect">
            <a:avLst>
              <a:gd name="adj" fmla="val 8235"/>
            </a:avLst>
          </a:prstGeom>
          <a:solidFill>
            <a:srgbClr val="0857C3"/>
          </a:solidFill>
          <a:ln/>
        </p:spPr>
      </p:sp>
      <p:sp>
        <p:nvSpPr>
          <p:cNvPr id="28" name="Text 24"/>
          <p:cNvSpPr/>
          <p:nvPr/>
        </p:nvSpPr>
        <p:spPr>
          <a:xfrm>
            <a:off x="1280160" y="8138160"/>
            <a:ext cx="1572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71C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Inti masalah:  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rute tidak ditentukan oleh kedekatan geografis, melainkan urutan kemunculan / janji bayar. Mantri sering bolak-balik melewati area yang sama dan menempuh jarak jauh lebih panjang dari yang diperlukan untuk titik kunjungan yang sama.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ute-opt/docs/dananta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828800" cy="1028700"/>
          </a:xfrm>
          <a:prstGeom prst="rect">
            <a:avLst/>
          </a:prstGeom>
        </p:spPr>
      </p:pic>
      <p:pic>
        <p:nvPicPr>
          <p:cNvPr id="3" name="Image 1" descr="route-opt/docs/bri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411480"/>
            <a:ext cx="2103120" cy="11839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0120" y="2331720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07F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EVALUASI · SEBARAN JARAK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914400" y="2697480"/>
            <a:ext cx="1645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Beban rute terkonsentrasi pada sebagian kecil hari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960120" y="3611880"/>
            <a:ext cx="1645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Sebaran jarak tempuh per mantri-hari. 25% hari terpanjang menyumbang 69.3% dari seluruh jarak — target perbaikan paling berdampak.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4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14400" y="4572000"/>
          <a:ext cx="104241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11704320" y="4572000"/>
            <a:ext cx="5669280" cy="4937760"/>
          </a:xfrm>
          <a:prstGeom prst="roundRect">
            <a:avLst>
              <a:gd name="adj" fmla="val 2222"/>
            </a:avLst>
          </a:prstGeom>
          <a:solidFill>
            <a:srgbClr val="EAF1FB"/>
          </a:solidFill>
          <a:ln w="12700">
            <a:solidFill>
              <a:srgbClr val="D4E0F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2070080" y="4846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Yang terlihat di data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12070080" y="5577840"/>
            <a:ext cx="164592" cy="164592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2" name="Text 7"/>
          <p:cNvSpPr/>
          <p:nvPr/>
        </p:nvSpPr>
        <p:spPr>
          <a:xfrm>
            <a:off x="12344400" y="54406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Median 14 km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12344400" y="59436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Mayoritas hari rutenya pendek dan padat — pola yang sehat.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12070080" y="6995160"/>
            <a:ext cx="164592" cy="164592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5" name="Text 10"/>
          <p:cNvSpPr/>
          <p:nvPr/>
        </p:nvSpPr>
        <p:spPr>
          <a:xfrm>
            <a:off x="12344400" y="68580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P90 58.4 km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12344400" y="7360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Tapi 1 dari 10 hari menembus 58 km — lonjakan ekstrem.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12070080" y="8412480"/>
            <a:ext cx="164592" cy="164592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8" name="Text 13"/>
          <p:cNvSpPr/>
          <p:nvPr/>
        </p:nvSpPr>
        <p:spPr>
          <a:xfrm>
            <a:off x="12344400" y="8275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Maks ~498 km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12344400" y="87782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 hari menempuh ratusan km untuk titik berdekatan.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ute-opt/docs/dananta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828800" cy="1028700"/>
          </a:xfrm>
          <a:prstGeom prst="rect">
            <a:avLst/>
          </a:prstGeom>
        </p:spPr>
      </p:pic>
      <p:pic>
        <p:nvPicPr>
          <p:cNvPr id="3" name="Image 1" descr="route-opt/docs/bri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411480"/>
            <a:ext cx="2103120" cy="11839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0120" y="2331720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07F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EVALUASI · POLA KERJA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914400" y="2697480"/>
            <a:ext cx="1645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Beban kunjungan tinggi &amp; tersebar sepanjang hari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144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Distribusi jumlah kunjungan / hari</a:t>
            </a:r>
            <a:endParaRPr lang="en-US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4892040"/>
          <a:ext cx="82296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941832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Kunjungan menurut jam (waktu lapangan)</a:t>
            </a:r>
            <a:endParaRPr lang="en-US" sz="18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9326880" y="4892040"/>
          <a:ext cx="82296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 5"/>
          <p:cNvSpPr/>
          <p:nvPr/>
        </p:nvSpPr>
        <p:spPr>
          <a:xfrm>
            <a:off x="914400" y="9464040"/>
            <a:ext cx="1645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i="1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Rata-rata 15 kunjungan/hari, aktif sejak pagi (mulai rata-rata 9:36) dengan dua puncak: menjelang siang dan sore. Volume sebesar ini menuntut urutan rute yang efisien — justru di sinilah jarak tempuh paling banyak terbuang.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ute-opt/docs/dananta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828800" cy="1028700"/>
          </a:xfrm>
          <a:prstGeom prst="rect">
            <a:avLst/>
          </a:prstGeom>
        </p:spPr>
      </p:pic>
      <p:pic>
        <p:nvPicPr>
          <p:cNvPr id="3" name="Image 1" descr="route-opt/docs/bri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411480"/>
            <a:ext cx="2103120" cy="11839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0120" y="2331720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07F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EVALUASI · PER WILAYAH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914400" y="2697480"/>
            <a:ext cx="1645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Inefisiensi tidak merata: Denpasar &amp; Makassar paling berat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960120" y="3611880"/>
            <a:ext cx="1645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Rata-rata jarak rute aktual per mantri-hari di tiap Kanwil, dibanding rute optimal pada titik yang sama.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6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14400" y="457200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11795760" y="4572000"/>
            <a:ext cx="5577840" cy="4846320"/>
          </a:xfrm>
          <a:prstGeom prst="roundRect">
            <a:avLst>
              <a:gd name="adj" fmla="val 2264"/>
            </a:avLst>
          </a:prstGeom>
          <a:solidFill>
            <a:srgbClr val="EAF1FB"/>
          </a:solidFill>
          <a:ln w="12700">
            <a:solidFill>
              <a:srgbClr val="D4E0F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2115800" y="4846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Selisih aktual vs optimal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2115800" y="5440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Makassar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5453360" y="5440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+22.9 km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2115800" y="5806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15.9 kunj/hari · selisih 61.2%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2115800" y="62270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Denpasar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453360" y="62270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+15.4 km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2115800" y="65928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15.3 kunj/hari · selisih 55.7%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2115800" y="70134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KANWIL MALANG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453360" y="70134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+13.8 km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2115800" y="7379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15.2 kunj/hari · selisih 53.7%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2115800" y="77998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Bandung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5453360" y="77998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+12.9 km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2115800" y="8165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15.1 kunj/hari · selisih 52.8%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2115800" y="85862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Yogyakarta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5453360" y="858621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+7.7 km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2115800" y="89519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13.7 kunj/hari · selisih 49.2%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ute-opt/docs/dananta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828800" cy="1028700"/>
          </a:xfrm>
          <a:prstGeom prst="rect">
            <a:avLst/>
          </a:prstGeom>
        </p:spPr>
      </p:pic>
      <p:pic>
        <p:nvPicPr>
          <p:cNvPr id="3" name="Image 1" descr="route-opt/docs/bri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411480"/>
            <a:ext cx="2103120" cy="11839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0120" y="2331720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07F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EVALUASI · UNIT KERJA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914400" y="2697480"/>
            <a:ext cx="1645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Unit kerja dengan rute paling tidak efisien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7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480560"/>
          <a:ext cx="164592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2103120"/>
                <a:gridCol w="2286000"/>
                <a:gridCol w="2286000"/>
                <a:gridCol w="20116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UNIT KERJA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7C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KANWIL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7C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KUNJ/HARI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7C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RUTE AKTUAL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7C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RUTE OPTIMAL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7C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SELISIH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7C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SALUPUTTI RANTEPAO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6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Makassar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16.1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73.32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8A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24.34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+49.0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GEGERKALONG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6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Bandung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15.1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64.33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8A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24.5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+39.8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PIRU MASOHI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6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Makassar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15.9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47.43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8A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19.77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+27.7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BESUKI 2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6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KANWIL MALANG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15.3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44.23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8A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20.73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+23.5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LEGIAN DENPASAR KUTA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6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Denpasar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43.99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8A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23.09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+20.9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CIMAREME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6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Bandung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10.9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39.03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8A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22.06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+17.0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GEGER KALONG BANDUNG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6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Bandung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15.4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37.42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8A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18.1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+19.3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BUNGBULANG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6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Bandung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16.1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35.36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8A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14.64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+20.7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PASIRIAN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6B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KANWIL MALANG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B24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14.8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33.98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8A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18.96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+15.0 km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914400" y="9509760"/>
            <a:ext cx="1645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SALUPUTTI RANTEPAO &amp; GEGERKALONG menempuh rute jauh di atas kebutuhan optimal untuk titik kunjungan yang sama. Unit-unit ini adalah kandidat pilot perbaikan rute.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57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ute-opt/docs/dananta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828800" cy="1028700"/>
          </a:xfrm>
          <a:prstGeom prst="rect">
            <a:avLst/>
          </a:prstGeom>
        </p:spPr>
      </p:pic>
      <p:pic>
        <p:nvPicPr>
          <p:cNvPr id="3" name="Image 1" descr="route-opt/docs/bri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411480"/>
            <a:ext cx="2103120" cy="11839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0120" y="2331720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71C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KESIMPULAN EVALUASI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914400" y="2697480"/>
            <a:ext cx="1645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Diagnosis: rute reaktif, bukan terencana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960120" y="3611880"/>
            <a:ext cx="1645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1C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Ringkasan akar inefisiensi yang terbaca dari data kunjungan saat ini.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914400" y="4526280"/>
            <a:ext cx="8001000" cy="1554480"/>
          </a:xfrm>
          <a:prstGeom prst="roundRect">
            <a:avLst>
              <a:gd name="adj" fmla="val 7059"/>
            </a:avLst>
          </a:prstGeom>
          <a:solidFill>
            <a:srgbClr val="307FE2"/>
          </a:solidFill>
          <a:ln/>
        </p:spPr>
      </p:sp>
      <p:sp>
        <p:nvSpPr>
          <p:cNvPr id="8" name="Shape 4"/>
          <p:cNvSpPr/>
          <p:nvPr/>
        </p:nvSpPr>
        <p:spPr>
          <a:xfrm>
            <a:off x="1298448" y="4910328"/>
            <a:ext cx="182880" cy="18288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9" name="Text 5"/>
          <p:cNvSpPr/>
          <p:nvPr/>
        </p:nvSpPr>
        <p:spPr>
          <a:xfrm>
            <a:off x="1645920" y="4754880"/>
            <a:ext cx="6995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Backtracking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645920" y="52395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13.4% hari memuat 1 perjalanan yang menyita &gt;50% rute — bolak-balik melewati area yang sama.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9372600" y="4526280"/>
            <a:ext cx="8001000" cy="1554480"/>
          </a:xfrm>
          <a:prstGeom prst="roundRect">
            <a:avLst>
              <a:gd name="adj" fmla="val 7059"/>
            </a:avLst>
          </a:prstGeom>
          <a:solidFill>
            <a:srgbClr val="307FE2"/>
          </a:solidFill>
          <a:ln/>
        </p:spPr>
      </p:sp>
      <p:sp>
        <p:nvSpPr>
          <p:cNvPr id="12" name="Shape 8"/>
          <p:cNvSpPr/>
          <p:nvPr/>
        </p:nvSpPr>
        <p:spPr>
          <a:xfrm>
            <a:off x="9756648" y="4910328"/>
            <a:ext cx="182880" cy="18288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3" name="Text 9"/>
          <p:cNvSpPr/>
          <p:nvPr/>
        </p:nvSpPr>
        <p:spPr>
          <a:xfrm>
            <a:off x="10104120" y="4754880"/>
            <a:ext cx="6995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Beban timpang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0104120" y="52395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37.8% hari menempuh &gt;20 km sementara median hanya 14 km; 25% hari terpanjang menyerap 69.3% jarak.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914400" y="6309360"/>
            <a:ext cx="8001000" cy="1554480"/>
          </a:xfrm>
          <a:prstGeom prst="roundRect">
            <a:avLst>
              <a:gd name="adj" fmla="val 7059"/>
            </a:avLst>
          </a:prstGeom>
          <a:solidFill>
            <a:srgbClr val="307FE2"/>
          </a:solidFill>
          <a:ln/>
        </p:spPr>
      </p:sp>
      <p:sp>
        <p:nvSpPr>
          <p:cNvPr id="16" name="Shape 12"/>
          <p:cNvSpPr/>
          <p:nvPr/>
        </p:nvSpPr>
        <p:spPr>
          <a:xfrm>
            <a:off x="1298448" y="6693408"/>
            <a:ext cx="182880" cy="18288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7" name="Text 13"/>
          <p:cNvSpPr/>
          <p:nvPr/>
        </p:nvSpPr>
        <p:spPr>
          <a:xfrm>
            <a:off x="1645920" y="6537960"/>
            <a:ext cx="6995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Volume tinggi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645920" y="702259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Rata-rata 15 kunjungan/hari tersebar pemasaran, pembinaan &amp; penagihan — tanpa urutan optimal, jarak membengkak.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9372600" y="6309360"/>
            <a:ext cx="8001000" cy="1554480"/>
          </a:xfrm>
          <a:prstGeom prst="roundRect">
            <a:avLst>
              <a:gd name="adj" fmla="val 7059"/>
            </a:avLst>
          </a:prstGeom>
          <a:solidFill>
            <a:srgbClr val="307FE2"/>
          </a:solidFill>
          <a:ln/>
        </p:spPr>
      </p:sp>
      <p:sp>
        <p:nvSpPr>
          <p:cNvPr id="20" name="Shape 16"/>
          <p:cNvSpPr/>
          <p:nvPr/>
        </p:nvSpPr>
        <p:spPr>
          <a:xfrm>
            <a:off x="9756648" y="6693408"/>
            <a:ext cx="182880" cy="18288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21" name="Text 17"/>
          <p:cNvSpPr/>
          <p:nvPr/>
        </p:nvSpPr>
        <p:spPr>
          <a:xfrm>
            <a:off x="10104120" y="6537960"/>
            <a:ext cx="6995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Tak ada urutan optimal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10104120" y="702259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Urutan kunjungan mengikuti janji bayar / kemunculan, bukan kedekatan geografis.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914400" y="8183880"/>
            <a:ext cx="16459200" cy="1280160"/>
          </a:xfrm>
          <a:prstGeom prst="roundRect">
            <a:avLst>
              <a:gd name="adj" fmla="val 8571"/>
            </a:avLst>
          </a:prstGeom>
          <a:solidFill>
            <a:srgbClr val="E8A13A"/>
          </a:solidFill>
          <a:ln/>
        </p:spPr>
      </p:sp>
      <p:sp>
        <p:nvSpPr>
          <p:cNvPr id="24" name="Text 20"/>
          <p:cNvSpPr/>
          <p:nvPr/>
        </p:nvSpPr>
        <p:spPr>
          <a:xfrm>
            <a:off x="1280160" y="8321040"/>
            <a:ext cx="1572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Implikasi: 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rute yang sama dapat dipangkas rata-rata ~55.3% (≈316.700 km dalam periode data) hanya dengan mengurutkan ulang kunjungan secara optimal. Bagaimana caranya — berikut metodenya.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ute-opt/docs/dananta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828800" cy="1028700"/>
          </a:xfrm>
          <a:prstGeom prst="rect">
            <a:avLst/>
          </a:prstGeom>
        </p:spPr>
      </p:pic>
      <p:pic>
        <p:nvPicPr>
          <p:cNvPr id="3" name="Image 1" descr="route-opt/docs/bri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411480"/>
            <a:ext cx="2103120" cy="11839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0120" y="2331720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07F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METODE · FORMULASI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914400" y="2697480"/>
            <a:ext cx="1645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Formulasi: Travelling Salesman Problem (TSP)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9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914400" y="4480560"/>
            <a:ext cx="8001000" cy="4983480"/>
          </a:xfrm>
          <a:prstGeom prst="roundRect">
            <a:avLst>
              <a:gd name="adj" fmla="val 2569"/>
            </a:avLst>
          </a:prstGeom>
          <a:solidFill>
            <a:srgbClr val="FFFFFF"/>
          </a:solidFill>
          <a:ln w="15875">
            <a:solidFill>
              <a:srgbClr val="D4E0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325880" y="4754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Definisi persoalan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325880" y="5212080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 setiap mantri-hari, terdapat himpunan titik kunjungan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 = {1, 2, …, n}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Cari urutan kunjungan π yang meminimalkan total jarak tempuh: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325880" y="6355080"/>
            <a:ext cx="7178040" cy="868680"/>
          </a:xfrm>
          <a:prstGeom prst="roundRect">
            <a:avLst>
              <a:gd name="adj" fmla="val 8421"/>
            </a:avLst>
          </a:prstGeom>
          <a:solidFill>
            <a:srgbClr val="EAF1FB"/>
          </a:solidFill>
          <a:ln/>
        </p:spPr>
      </p:sp>
      <p:sp>
        <p:nvSpPr>
          <p:cNvPr id="11" name="Text 7"/>
          <p:cNvSpPr/>
          <p:nvPr/>
        </p:nvSpPr>
        <p:spPr>
          <a:xfrm>
            <a:off x="1463040" y="644652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57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</a:t>
            </a:r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</a:t>
            </a:r>
            <a:pPr indent="0" marL="0">
              <a:buNone/>
            </a:pPr>
            <a:r>
              <a:rPr lang="en-US" sz="1700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d(πi, πi+1)   untuk i = 1 … n−1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325880" y="745236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E8A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Open-path TSP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rute tidak harus kembali ke titik awal. Ruang solusi = n!/2 — tak praktis dienumerasi penuh, sehingga dipakai heuristik.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325880" y="854964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0857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Mengapa heuristik?  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n=10 ⇒ 1,8 juta rute; n=15 ⇒ 650 miliar. Nearest-Neighbor + 2-opt mencapai solusi dekat-optimal dalam milidetik.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9372600" y="4480560"/>
            <a:ext cx="8001000" cy="4983480"/>
          </a:xfrm>
          <a:prstGeom prst="roundRect">
            <a:avLst>
              <a:gd name="adj" fmla="val 2569"/>
            </a:avLst>
          </a:prstGeom>
          <a:solidFill>
            <a:srgbClr val="0857C3"/>
          </a:solidFill>
          <a:ln/>
        </p:spPr>
      </p:sp>
      <p:sp>
        <p:nvSpPr>
          <p:cNvPr id="15" name="Text 11"/>
          <p:cNvSpPr/>
          <p:nvPr/>
        </p:nvSpPr>
        <p:spPr>
          <a:xfrm>
            <a:off x="9784080" y="4754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1C5E8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Metrik jarak: Haversine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9784080" y="5212080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Jarak great-circle antar dua titik GPS, memperhitungkan kelengkungan bumi — bukan jarak garis lurus Euclidean yang keliru untuk koordinat geografis.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9784080" y="6355080"/>
            <a:ext cx="7178040" cy="1371600"/>
          </a:xfrm>
          <a:prstGeom prst="roundRect">
            <a:avLst>
              <a:gd name="adj" fmla="val 5333"/>
            </a:avLst>
          </a:prstGeom>
          <a:solidFill>
            <a:srgbClr val="0B2447"/>
          </a:solidFill>
          <a:ln/>
        </p:spPr>
      </p:sp>
      <p:sp>
        <p:nvSpPr>
          <p:cNvPr id="18" name="Text 14"/>
          <p:cNvSpPr/>
          <p:nvPr/>
        </p:nvSpPr>
        <p:spPr>
          <a:xfrm>
            <a:off x="10012680" y="653796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71C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sin²(Δφ/2) + cos φ₁·cos φ₂·sin²(Δλ/2)
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FD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2R · arcsin(√a)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9784080" y="8001000"/>
            <a:ext cx="7223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= 6.371 km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6E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(radius bumi) · φ = lintang · λ = bujur. Diterapkan tervektorisasi (numpy) ke seluruh pasangan titik.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8A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Upgrade: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6E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ganti dengan OSRM / Google Distance Matrix untuk jarak jalan nyata.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ute-opt/docs/dananta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828800" cy="1028700"/>
          </a:xfrm>
          <a:prstGeom prst="rect">
            <a:avLst/>
          </a:prstGeom>
        </p:spPr>
      </p:pic>
      <p:pic>
        <p:nvPicPr>
          <p:cNvPr id="3" name="Image 1" descr="route-opt/docs/bri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411480"/>
            <a:ext cx="2103120" cy="11839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0120" y="2331720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07F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METODE · ALGORITMA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914400" y="2697480"/>
            <a:ext cx="1645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Dua tahap: konstruksi cepat, lalu perbaikan lokal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914400" y="4480560"/>
            <a:ext cx="800100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5875">
            <a:solidFill>
              <a:srgbClr val="D4E0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280160" y="4754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13A"/>
                </a:solidFill>
              </a:rPr>
              <a:t>TAHAP 1   </a:t>
            </a:r>
            <a:pPr indent="0" marL="0">
              <a:buNone/>
            </a:pPr>
            <a:r>
              <a:rPr lang="en-US" sz="1900" b="1" dirty="0">
                <a:solidFill>
                  <a:srgbClr val="0857C3"/>
                </a:solidFill>
              </a:rPr>
              <a:t>Nearest-Neighbor (konstruksi)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280160" y="5212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Mulai dari titik awal; tiap langkah pindah ke kunjungan terdekat yang belum dikunjungi sampai semua titik tercakup. Menghasilkan rute awal masuk akal secara instan.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28016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Kompleksitas O(n²)</a:t>
            </a:r>
            <a:pPr indent="0" marL="0">
              <a:buNone/>
            </a:pPr>
            <a:r>
              <a:rPr lang="en-US" sz="150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cepat, tapi bisa terjebak rute melingkar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14400" y="6995160"/>
            <a:ext cx="800100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D4E0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280160" y="7269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13A"/>
                </a:solidFill>
              </a:rPr>
              <a:t>TAHAP 2   </a:t>
            </a:r>
            <a:pPr indent="0" marL="0">
              <a:buNone/>
            </a:pPr>
            <a:r>
              <a:rPr lang="en-US" sz="1900" b="1" dirty="0">
                <a:solidFill>
                  <a:srgbClr val="0857C3"/>
                </a:solidFill>
              </a:rPr>
              <a:t>2-opt (perbaikan lokal)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80160" y="7726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 setiap pasang posisi (i, k), balik urutan segmen di antaranya. Bila total jarak berkurang, simpan. Ulangi sampai tak ada perbaikan (local optimum).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280160" y="8732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857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Efeknya: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menghapus persilangan rute — jalur menyilang hampir selalu lebih panjang.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8A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O(n²)/iterasi, konvergen cepat ≤40 titik/hari.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9372600" y="4480560"/>
            <a:ext cx="8001000" cy="4983480"/>
          </a:xfrm>
          <a:prstGeom prst="roundRect">
            <a:avLst>
              <a:gd name="adj" fmla="val 1835"/>
            </a:avLst>
          </a:prstGeom>
          <a:solidFill>
            <a:srgbClr val="0B2447"/>
          </a:solidFill>
          <a:ln/>
        </p:spPr>
      </p:sp>
      <p:sp>
        <p:nvSpPr>
          <p:cNvPr id="16" name="Text 12"/>
          <p:cNvSpPr/>
          <p:nvPr/>
        </p:nvSpPr>
        <p:spPr>
          <a:xfrm>
            <a:off x="973836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13A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Inti 2-opt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9738360" y="5120640"/>
            <a:ext cx="74066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two_opt(la, lo, order):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best = order; improved = True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71C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improved: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improved = False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71C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n-1):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71C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k in range(i+1, n):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= (best[:i] +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8A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best[i:k+1][::-1] + 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7FA3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balik segmen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best[k+1:])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71C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route_len(new) &lt; best_len: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8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best = new         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7FA3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simpan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improved = True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8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best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ute-opt/docs/dananta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828800" cy="1028700"/>
          </a:xfrm>
          <a:prstGeom prst="rect">
            <a:avLst/>
          </a:prstGeom>
        </p:spPr>
      </p:pic>
      <p:pic>
        <p:nvPicPr>
          <p:cNvPr id="3" name="Image 1" descr="route-opt/docs/bri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411480"/>
            <a:ext cx="2103120" cy="11839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0120" y="2331720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07F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METODE · CONTOH NYATA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914400" y="2697480"/>
            <a:ext cx="1645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Anatomi satu hari: rute berputar vs rute optimal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960120" y="3611880"/>
            <a:ext cx="1645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Contoh dari data — SUMBANG PURWOKERTO, 2026-01-29. Titik kunjungan identik; hanya urutannya yang disusun ulang oleh model.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11</a:t>
            </a:r>
            <a:endParaRPr lang="en-US" sz="1600" dirty="0"/>
          </a:p>
        </p:txBody>
      </p:sp>
      <p:pic>
        <p:nvPicPr>
          <p:cNvPr id="8" name="Image 2" descr="route-opt/docs/route_actu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480560"/>
            <a:ext cx="6217920" cy="4663440"/>
          </a:xfrm>
          <a:prstGeom prst="rect">
            <a:avLst/>
          </a:prstGeom>
        </p:spPr>
      </p:pic>
      <p:pic>
        <p:nvPicPr>
          <p:cNvPr id="9" name="Image 3" descr="route-opt/docs/route_optim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4480560"/>
            <a:ext cx="6217920" cy="466344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8321040" y="6263640"/>
            <a:ext cx="1645920" cy="164592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1" name="Text 5"/>
          <p:cNvSpPr/>
          <p:nvPr/>
        </p:nvSpPr>
        <p:spPr>
          <a:xfrm>
            <a:off x="8321040" y="66751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447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−56%</a:t>
            </a:r>
            <a:endParaRPr lang="en-US" sz="2600" dirty="0"/>
          </a:p>
        </p:txBody>
      </p:sp>
      <p:sp>
        <p:nvSpPr>
          <p:cNvPr id="12" name="Text 6"/>
          <p:cNvSpPr/>
          <p:nvPr/>
        </p:nvSpPr>
        <p:spPr>
          <a:xfrm>
            <a:off x="8321040" y="7315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jarak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914400" y="9418320"/>
            <a:ext cx="1645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i="1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Jarak tempuh turun dari 10.21 km menjadi 4.5 km untuk kunjungan yang sama — tanpa melewatkan satu pun titik. Angka pada simpul = urutan kunjungan.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7739360" cy="9738360"/>
          </a:xfrm>
          <a:prstGeom prst="roundRect">
            <a:avLst>
              <a:gd name="adj" fmla="val 3286"/>
            </a:avLst>
          </a:prstGeom>
          <a:ln w="38100">
            <a:solidFill>
              <a:srgbClr val="71C5E8"/>
            </a:solidFill>
            <a:prstDash val="solid"/>
          </a:ln>
        </p:spPr>
      </p:sp>
      <p:pic>
        <p:nvPicPr>
          <p:cNvPr id="3" name="Image 0" descr="route-opt/docs/dananta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828800" cy="1028700"/>
          </a:xfrm>
          <a:prstGeom prst="rect">
            <a:avLst/>
          </a:prstGeom>
        </p:spPr>
      </p:pic>
      <p:pic>
        <p:nvPicPr>
          <p:cNvPr id="4" name="Image 1" descr="route-opt/docs/bri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0" y="411480"/>
            <a:ext cx="2103120" cy="1183932"/>
          </a:xfrm>
          <a:prstGeom prst="rect">
            <a:avLst/>
          </a:prstGeom>
        </p:spPr>
      </p:pic>
      <p:pic>
        <p:nvPicPr>
          <p:cNvPr id="5" name="Image 2" descr="route-opt/docs/phone_h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554480"/>
            <a:ext cx="5486400" cy="984925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463040" y="40233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Terima Kasih</a:t>
            </a:r>
            <a:endParaRPr lang="en-US" sz="7600" dirty="0"/>
          </a:p>
        </p:txBody>
      </p:sp>
      <p:sp>
        <p:nvSpPr>
          <p:cNvPr id="7" name="Text 2"/>
          <p:cNvSpPr/>
          <p:nvPr/>
        </p:nvSpPr>
        <p:spPr>
          <a:xfrm>
            <a:off x="1508760" y="5577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07F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 Risk Management Group · Juni 2026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1508760" y="6217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interaktif &amp; repo analitik dapat diakses untuk eksplorasi rute per Kanwil, unit kerja, dan mantri.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17282160" y="9601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857C3"/>
                </a:solidFill>
                <a:latin typeface="Inter Semi-Bold" pitchFamily="34" charset="0"/>
                <a:ea typeface="Inter Semi-Bold" pitchFamily="34" charset="-122"/>
                <a:cs typeface="Inter Semi-Bold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Evaluasi &amp; Optimalisasi Rute Mantri</dc:title>
  <dc:subject>PptxGenJS Presentation</dc:subject>
  <dc:creator>BRI Micro Risk Management Group</dc:creator>
  <cp:lastModifiedBy>BRI Micro Risk Management Group</cp:lastModifiedBy>
  <cp:revision>1</cp:revision>
  <dcterms:created xsi:type="dcterms:W3CDTF">2026-06-27T07:35:55Z</dcterms:created>
  <dcterms:modified xsi:type="dcterms:W3CDTF">2026-06-27T07:35:55Z</dcterms:modified>
</cp:coreProperties>
</file>